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1  ·  FOUNDATIONS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875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Vision-Language-Action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Handbook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 and electronics to building an intelligent VLA robot — a complete beginner's roadmap through AI, machine learning, embedded systems, and robotics software.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53212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 · 2 · 3 · 4 · 7 · 8 · 10 · 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Your Robotics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combines mechanics, electronics, programming and AI. A robot senses, decides, and acts — and a Vision-Language-Action (VLA) robot uses cameras to see, language to understand instructions, and motors to act.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98294" cy="21488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807208"/>
            <a:ext cx="156911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807208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3429000"/>
            <a:ext cx="156911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ESP32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02966" y="2606040"/>
            <a:ext cx="1898294" cy="21488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67558" y="2807208"/>
            <a:ext cx="156911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867558" y="2807208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67558" y="3429000"/>
            <a:ext cx="156911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Mobile Robots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57293" y="2606040"/>
            <a:ext cx="1898294" cy="21488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1885" y="2807208"/>
            <a:ext cx="156911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1885" y="2807208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1885" y="3429000"/>
            <a:ext cx="156911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11619" y="2606040"/>
            <a:ext cx="1898294" cy="21488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76211" y="2807208"/>
            <a:ext cx="156911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176211" y="2807208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6-8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76211" y="3429000"/>
            <a:ext cx="156911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&amp; AI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65946" y="2606040"/>
            <a:ext cx="1898294" cy="21488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30538" y="2807208"/>
            <a:ext cx="156911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9330538" y="2807208"/>
            <a:ext cx="15691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9-12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30538" y="3429000"/>
            <a:ext cx="156911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 Prototype Integration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mindset: 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small projects, test frequently, document everything, and improve continuously.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6692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Project: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My_VLA_Journey folder (Lessons, Projects, Notes, Images, Code) and write your first program: print('Hello, Robot!')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Fundamentals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of building systems that perform tasks requiring human intelligence — recognizing images, understanding language, planning, and learning from experience.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(NARROW)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one specific task.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object detection · ChatGPT · chess engines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21488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3317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(AGI)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6974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perform almost any intellectual task a human can.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63640" y="32004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not yet achieved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FIELDS NEST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1965960" cy="1051560"/>
          </a:xfrm>
          <a:prstGeom prst="roundRect">
            <a:avLst>
              <a:gd name="adj" fmla="val 47826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0916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624328" y="4709160"/>
            <a:ext cx="1965960" cy="1051560"/>
          </a:xfrm>
          <a:prstGeom prst="roundRect">
            <a:avLst>
              <a:gd name="adj" fmla="val 47826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624328" y="470916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0016" y="4709160"/>
            <a:ext cx="1965960" cy="1051560"/>
          </a:xfrm>
          <a:prstGeom prst="roundRect">
            <a:avLst>
              <a:gd name="adj" fmla="val 4782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700016" y="470916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75704" y="4709160"/>
            <a:ext cx="1965960" cy="1051560"/>
          </a:xfrm>
          <a:prstGeom prst="roundRect">
            <a:avLst>
              <a:gd name="adj" fmla="val 47826"/>
            </a:avLst>
          </a:prstGeom>
          <a:solidFill>
            <a:srgbClr val="3E8FAE"/>
          </a:solidFill>
          <a:ln/>
        </p:spPr>
      </p:sp>
      <p:sp>
        <p:nvSpPr>
          <p:cNvPr id="22" name="Text 20"/>
          <p:cNvSpPr/>
          <p:nvPr/>
        </p:nvSpPr>
        <p:spPr>
          <a:xfrm>
            <a:off x="6775704" y="470916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51392" y="4709160"/>
            <a:ext cx="1965960" cy="1051560"/>
          </a:xfrm>
          <a:prstGeom prst="roundRect">
            <a:avLst>
              <a:gd name="adj" fmla="val 47826"/>
            </a:avLst>
          </a:prstGeom>
          <a:solidFill>
            <a:srgbClr val="6FB1C9"/>
          </a:solidFill>
          <a:ln/>
        </p:spPr>
      </p:sp>
      <p:sp>
        <p:nvSpPr>
          <p:cNvPr id="24" name="Text 22"/>
          <p:cNvSpPr/>
          <p:nvPr/>
        </p:nvSpPr>
        <p:spPr>
          <a:xfrm>
            <a:off x="8851392" y="470916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a VLA robot:  </a:t>
            </a:r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captures an image  →  AI interprets the scene and instruction  →  action system commands motors and servos.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Foundations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computers to discover patterns from data rather than relying entirely on manually written rules.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496312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Data = Answers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writes the logic; behavior stays fixed.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20574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1945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496312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Answers =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logic and improves with better data.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ML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048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50208"/>
            <a:ext cx="268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25196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examples.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70960" y="3840480"/>
            <a:ext cx="3048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3840" y="3950208"/>
            <a:ext cx="268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53840" y="425196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hidden patterns in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93280" y="3840480"/>
            <a:ext cx="3048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6160" y="3950208"/>
            <a:ext cx="268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76160" y="4251960"/>
            <a:ext cx="268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rewards and penalties.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WORKFLOW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440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286000" y="5440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560320" y="54406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0" y="5440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297680" y="5440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0" y="54406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5440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09360" y="5440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583680" y="54406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5440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21040" y="5440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595360" y="544068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0" y="5440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project usually spends more time collecting and cleaning data than training the model.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&amp; Neural Networks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automatically learns useful representations from raw data — powering models like ChatGPT, YOLO, and OpenVLA.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15184" y="24231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615184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81728" y="24231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48272" y="24231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748272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14816" y="24231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814816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repeatedly predicts, measures its error, and updates its weights until performance improves.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computational unit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89320" y="416052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assigned to an input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72744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Fn.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non-linearity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89320" y="472744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pass through training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29437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prediction error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89320" y="529437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weights to reduce loss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Vision-Language-Action Models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VLA model observes the world using cameras, understands natural language instructions, and predicts robot actions — connecting perception, reasoning and control into one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9556" y="22860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202436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2436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28516" y="228600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39996" y="22860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22876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22876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48956" y="228600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60436" y="22860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3E8FAE"/>
          </a:solidFill>
          <a:ln/>
        </p:spPr>
      </p:sp>
      <p:sp>
        <p:nvSpPr>
          <p:cNvPr id="15" name="Text 13"/>
          <p:cNvSpPr/>
          <p:nvPr/>
        </p:nvSpPr>
        <p:spPr>
          <a:xfrm>
            <a:off x="8243316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43316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VLA MODELS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3048000" cy="960120"/>
          </a:xfrm>
          <a:prstGeom prst="roundRect">
            <a:avLst>
              <a:gd name="adj" fmla="val 7619"/>
            </a:avLst>
          </a:prstGeom>
          <a:solidFill>
            <a:srgbClr val="1A23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53128"/>
            <a:ext cx="268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268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manipulation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70960" y="4343400"/>
            <a:ext cx="3048000" cy="960120"/>
          </a:xfrm>
          <a:prstGeom prst="roundRect">
            <a:avLst>
              <a:gd name="adj" fmla="val 7619"/>
            </a:avLst>
          </a:prstGeom>
          <a:solidFill>
            <a:srgbClr val="1A23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3840" y="4453128"/>
            <a:ext cx="268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53840" y="4754880"/>
            <a:ext cx="268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and action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93280" y="4343400"/>
            <a:ext cx="3048000" cy="960120"/>
          </a:xfrm>
          <a:prstGeom prst="roundRect">
            <a:avLst>
              <a:gd name="adj" fmla="val 7619"/>
            </a:avLst>
          </a:prstGeom>
          <a:solidFill>
            <a:srgbClr val="1A235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76160" y="4453128"/>
            <a:ext cx="268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GR00T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76160" y="4754880"/>
            <a:ext cx="268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 foundation model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1A2352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532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tips:  </a:t>
            </a:r>
            <a:pPr indent="0" marL="0">
              <a:buNone/>
            </a:pPr>
            <a:r>
              <a:rPr lang="en-US" sz="1250" dirty="0">
                <a:solidFill>
                  <a:srgbClr val="C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pretrained models, collect synchronized camera-robot data, test in simulation first, and always implement safety limits.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Fundamentals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every intelligent robot — voltage, current, resistance and power govern how every sensor, motor and microcontroller behaves.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91590" y="21488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129159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2174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73552"/>
            <a:ext cx="2217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2217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pressure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57650" y="21488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05765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14700" y="2971800"/>
            <a:ext cx="22174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4700" y="3273552"/>
            <a:ext cx="2217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Ampere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4700" y="3566160"/>
            <a:ext cx="2217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electrons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23710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82371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0760" y="2971800"/>
            <a:ext cx="22174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3273552"/>
            <a:ext cx="2217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80760" y="3566160"/>
            <a:ext cx="2217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Opposes current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89770" y="21488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958977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846820" y="2971800"/>
            <a:ext cx="22174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46820" y="3273552"/>
            <a:ext cx="2217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846820" y="3566160"/>
            <a:ext cx="2217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used per second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TO KNOW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47091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current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Capacitors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energy briefly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Diodes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one-way current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Transistors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electronic switches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ESP32) control the robot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89320" y="4251960"/>
            <a:ext cx="507492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TIPS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47091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Always disconnect power before wiring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Double-check polarity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Never short a battery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correct resistor values with LEDs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Verify voltage ratings before powering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Architecture — The Brain of Your First Robot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32-bit microcontroller from Espressif, combining dual-core processing, Wi-Fi, Bluetooth and many peripherals on a single chip.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937760" cy="3200400"/>
          </a:xfrm>
          <a:prstGeom prst="roundRect">
            <a:avLst>
              <a:gd name="adj" fmla="val 2857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42316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42316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242316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242316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242316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35204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35204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35204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35204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61772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17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/ Motors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60720" y="210312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10312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78040" y="21031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up to 240 MHz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555480" y="210312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multiple tasks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2724912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AF0F8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72491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78040" y="272491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555480" y="272491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connectivity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60720" y="3346704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334670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78040" y="334670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+ 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55480" y="3346704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control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60720" y="3968496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AF0F8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396849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178040" y="396849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pins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55480" y="3968496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sensors &amp; motors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60720" y="4590288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459028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178040" y="459028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/ PWM / UART / I2C / SPI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555480" y="4590288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hardware wiring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mistakes:  </a:t>
            </a:r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5V to 3.3V pins, connecting motors directly to GPIO, forgetting a common ground.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Programming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robotics projects become unmanageable as one long program. OOP organizes code into reusable building blocks called classes.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Robot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battery, speed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9044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   stop()   detect()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3474720" cy="594360"/>
          </a:xfrm>
          <a:prstGeom prst="roundRect">
            <a:avLst>
              <a:gd name="adj" fmla="val 61538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348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956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         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1645920" cy="502920"/>
          </a:xfrm>
          <a:prstGeom prst="roundRect">
            <a:avLst>
              <a:gd name="adj" fmla="val 54545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CleaningRobot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5166360"/>
            <a:ext cx="1645920" cy="502920"/>
          </a:xfrm>
          <a:prstGeom prst="roundRect">
            <a:avLst>
              <a:gd name="adj" fmla="val 54545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DeliveryRobot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148840"/>
            <a:ext cx="6766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148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148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98280" y="21488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2647188"/>
            <a:ext cx="6766560" cy="438912"/>
          </a:xfrm>
          <a:prstGeom prst="roundRect">
            <a:avLst>
              <a:gd name="adj" fmla="val 10417"/>
            </a:avLst>
          </a:prstGeom>
          <a:solidFill>
            <a:srgbClr val="EAF0F8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64718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64718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instance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98280" y="264718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145536"/>
            <a:ext cx="6766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14553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14553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98280" y="31455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battery_level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643884"/>
            <a:ext cx="6766560" cy="438912"/>
          </a:xfrm>
          <a:prstGeom prst="roundRect">
            <a:avLst>
              <a:gd name="adj" fmla="val 10417"/>
            </a:avLst>
          </a:prstGeom>
          <a:solidFill>
            <a:srgbClr val="EAF0F8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64388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364388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of object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98280" y="364388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move_forward()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4142232"/>
            <a:ext cx="676656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414223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14223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parent class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098280" y="414223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CleaningRobot extends Robot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4640580"/>
            <a:ext cx="6766560" cy="438912"/>
          </a:xfrm>
          <a:prstGeom prst="roundRect">
            <a:avLst>
              <a:gd name="adj" fmla="val 10417"/>
            </a:avLst>
          </a:prstGeom>
          <a:solidFill>
            <a:srgbClr val="EAF0F8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6405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46405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interface, different behavior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98280" y="46405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 differs by robot type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Foundations to a Working Robot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covered AI, Machine Learning, Deep Learning, VLA models, Electronics, the ESP32, and Object-Oriented Programming — the full foundation needed to start building intelligent robots.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apply these fundamentals to Computer Vision, sensors, and your first mobile robot build.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2026-07-19T06:02:20Z</dcterms:created>
  <dcterms:modified xsi:type="dcterms:W3CDTF">2026-07-19T06:02:21Z</dcterms:modified>
</cp:coreProperties>
</file>